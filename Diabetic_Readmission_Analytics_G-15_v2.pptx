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Group G-15's DVA Capstone 2 project on diabetic patient readmissions. Every number in this deck is pulled directly from our published Tableau dashboard — 69,990 cleaned encounters, 130 US hospitals, a decade of real clinical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scale is significant. 8.98% of diabetic patients — that's 6,285 people — were readmitted within 30 days of discharge. At $14,400 per event, this is both a quality-of-care failure and a financial liability hospitals cannot 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dataset comes from UCI Machine Learning Repository. We cleaned 101,766 raw encounters down to 69,990 valid records. Key work included handling missing values, deriving a binary readmission target, and standardising categorical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shows all 10 KPIs we computed from the cleaned dataset. Every value here is sourced from the live dashboard — not estimated. Notice that the [70-80] age group alone accounts for 17,751 encounters — far above the dataset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standout EDA findings. The 70–80 bracket has the highest encounter burden. Over half of readmitted patients left with no medication change. Prior hospitalisation history is 3× higher in readmitted patients. And the high-risk segment, while only 2.35% of the population, is almost entirely absent from the no-readmission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segmented patients into three risk tiers. The high-risk composite profile — elderly, on insulin, prior admissions, no discharge medication change — aligns perfectly with every clinical intensity metric being higher in the readmitted group on Dashboard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Tableau dashboard has three interactive views. Dashboard 1 covers KPIs, age distribution, and readmission outcomes. Dashboard 2 maps clinical intensity. Dashboard 3 shows risk segmentation. All views are filter-responsive.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evidence-based recommendations, each tied to a specific dashboard finding. Together they address the medication gap, the geriatric risk concentration, the risk scoring blind spot, the specialty discharge gap, and the insulin protocol inconsistency.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combined conservative impact: 2,894 prevented readmissions and $41.6 million in annual savings based on AHRQ's cost figure. The Specialty Discharge Checklists can be implemented within 30–60 days — the quickest win on 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transparent about limitations. The data is historical, specialty records are largely missing, and we have no post-discharge outcome data. Our next priorities are a live ML risk classifier and EHR integration to make this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B4B4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1695297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 · GROUP G-15 · NEWTON SCHOOL OF TECHNOLOGY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1504950"/>
            <a:ext cx="11772900" cy="161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Patient Readmission Analytics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162300"/>
            <a:ext cx="98107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FFFFFF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Clinical Drivers of 30-Day Readmission Across 101,766 Diabetic Encounters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00B4B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867275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 </a:t>
            </a:r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Newton School of Technology | Healthcare Sector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219700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</a:t>
            </a:r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G-15 | </a:t>
            </a:r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Dataset: </a:t>
            </a:r>
            <a:pPr algn="l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Diabetic Readmission (1999–2008)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5953125"/>
            <a:ext cx="8660606" cy="1095375"/>
          </a:xfrm>
          <a:prstGeom prst="roundRect">
            <a:avLst>
              <a:gd name="adj" fmla="val 8696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925" y="5962650"/>
            <a:ext cx="2877145" cy="10763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791545" y="5962650"/>
            <a:ext cx="9525" cy="10763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575346" y="6134100"/>
            <a:ext cx="16409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69,990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66825" y="6591300"/>
            <a:ext cx="22580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Encounters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01070" y="5962650"/>
            <a:ext cx="2079724" cy="10763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71270" y="5962650"/>
            <a:ext cx="9525" cy="10763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52193" y="6134100"/>
            <a:ext cx="84400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4143970" y="6591300"/>
            <a:ext cx="14605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Hospitals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880795" y="5962650"/>
            <a:ext cx="1691134" cy="10763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562404" y="5962650"/>
            <a:ext cx="9525" cy="10763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37114" y="6134100"/>
            <a:ext cx="6451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6223695" y="6591300"/>
            <a:ext cx="10720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571929" y="5962650"/>
            <a:ext cx="1993553" cy="10763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914829" y="6134100"/>
            <a:ext cx="13839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Yrs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8046244" y="6591300"/>
            <a:ext cx="11209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7315200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Dashboard: </a:t>
            </a:r>
            <a:pPr algn="l" indent="0" marL="0">
              <a:buNone/>
            </a:pPr>
            <a:r>
              <a:rPr lang="en-US" sz="1800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public.tableau.com/app/profile/shobhit.real/viz/G-15_DiabeticCare_17773552740700/Dashboard1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37851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309848" y="195263"/>
            <a:ext cx="4063752" cy="390525"/>
          </a:xfrm>
          <a:prstGeom prst="roundRect">
            <a:avLst>
              <a:gd name="adj" fmla="val 9756"/>
            </a:avLst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13500348" y="252412"/>
            <a:ext cx="38046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8.98% 30-Day Readmission 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38250"/>
            <a:ext cx="10072421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 readmissions among diabetic patients are a </a:t>
            </a:r>
            <a:pPr algn="l" indent="0" marL="0">
              <a:lnSpc>
                <a:spcPct val="160000"/>
              </a:lnSpc>
              <a:buNone/>
            </a:pPr>
            <a:r>
              <a:rPr lang="en-US" sz="2550" b="1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$14,400-per-event liability </a:t>
            </a:r>
            <a:pPr algn="l" indent="0" marL="0">
              <a:lnSpc>
                <a:spcPct val="160000"/>
              </a:lnSpc>
              <a:buNone/>
            </a:pPr>
            <a:r>
              <a:rPr lang="en-US" sz="25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(AHRQ, 2023). The CMS Hospital Readmissions Reduction Program (HRRP) actively penalises hospitals for excess readmissions. With nearly 1 in 11 diabetic inpatients returning within 30 days, the gap is systemic — not random.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514850"/>
            <a:ext cx="9779050" cy="4305300"/>
          </a:xfrm>
          <a:prstGeom prst="roundRect">
            <a:avLst>
              <a:gd name="adj" fmla="val 2212"/>
            </a:avLst>
          </a:prstGeom>
          <a:solidFill>
            <a:srgbClr val="C0504D">
              <a:alpha val="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8796338"/>
            <a:ext cx="9779050" cy="23813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4514850"/>
            <a:ext cx="9779050" cy="23813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514850"/>
            <a:ext cx="76200" cy="430530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69637" y="4514850"/>
            <a:ext cx="23813" cy="430530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05363"/>
            <a:ext cx="93415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PROBLEM STATEMENT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400" y="5214938"/>
            <a:ext cx="9341520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i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"Across 101,766 diabetic encounters from 130 US hospitals (1999–2008), </a:t>
            </a:r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8.98% </a:t>
            </a:r>
            <a:pPr algn="l" indent="0" marL="0">
              <a:lnSpc>
                <a:spcPct val="165000"/>
              </a:lnSpc>
              <a:buNone/>
            </a:pPr>
            <a:r>
              <a:rPr lang="en-US" sz="2100" i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patients were readmitted within 30 days. This project identifies the clinical, demographic, and operational drivers and delivers actionable interventions for hospital administrators."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150650" y="2809875"/>
            <a:ext cx="6222950" cy="1352550"/>
          </a:xfrm>
          <a:prstGeom prst="roundRect">
            <a:avLst>
              <a:gd name="adj" fmla="val 8451"/>
            </a:avLst>
          </a:prstGeom>
          <a:solidFill>
            <a:srgbClr val="1A2D5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17350" y="3038475"/>
            <a:ext cx="58602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8.98%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1417350" y="3609975"/>
            <a:ext cx="58602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Readmission Rate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150650" y="4352925"/>
            <a:ext cx="6222950" cy="1352550"/>
          </a:xfrm>
          <a:prstGeom prst="roundRect">
            <a:avLst>
              <a:gd name="adj" fmla="val 8451"/>
            </a:avLst>
          </a:prstGeom>
          <a:solidFill>
            <a:srgbClr val="1A2D5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17350" y="4581525"/>
            <a:ext cx="58602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6,285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1417350" y="5153025"/>
            <a:ext cx="58602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Readmitted Within 30 Days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1150650" y="5895975"/>
            <a:ext cx="6222950" cy="1352550"/>
          </a:xfrm>
          <a:prstGeom prst="roundRect">
            <a:avLst>
              <a:gd name="adj" fmla="val 8451"/>
            </a:avLst>
          </a:prstGeom>
          <a:solidFill>
            <a:srgbClr val="1A3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1417350" y="6124575"/>
            <a:ext cx="586023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$14,400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1417350" y="6696075"/>
            <a:ext cx="586023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Cost per Readmission (AHRQ, 2023)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0" y="9163050"/>
            <a:ext cx="18288000" cy="66675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9334500"/>
            <a:ext cx="17007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Preventing just 10% of 30-day readmissions saves over $16M in annual hospital costs.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33053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238250"/>
            <a:ext cx="5334000" cy="1209675"/>
          </a:xfrm>
          <a:prstGeom prst="roundRect">
            <a:avLst>
              <a:gd name="adj" fmla="val 9449"/>
            </a:avLst>
          </a:prstGeom>
          <a:solidFill>
            <a:srgbClr val="00B4B4">
              <a:alpha val="10000"/>
            </a:srgbClr>
          </a:solidFill>
          <a:ln w="19050">
            <a:solidFill>
              <a:srgbClr val="00B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3938" y="1447800"/>
            <a:ext cx="18509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101,766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648545" y="1962150"/>
            <a:ext cx="18655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Encounters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77000" y="1238250"/>
            <a:ext cx="5334000" cy="1209675"/>
          </a:xfrm>
          <a:prstGeom prst="roundRect">
            <a:avLst>
              <a:gd name="adj" fmla="val 9449"/>
            </a:avLst>
          </a:prstGeom>
          <a:solidFill>
            <a:srgbClr val="00B4B4">
              <a:alpha val="10000"/>
            </a:srgbClr>
          </a:solidFill>
          <a:ln w="19050">
            <a:solidFill>
              <a:srgbClr val="00B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90471" y="1447800"/>
            <a:ext cx="178311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69,990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240410" y="1962150"/>
            <a:ext cx="38070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Encounters (After Filtering)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039600" y="1238250"/>
            <a:ext cx="5334000" cy="1209675"/>
          </a:xfrm>
          <a:prstGeom prst="roundRect">
            <a:avLst>
              <a:gd name="adj" fmla="val 9449"/>
            </a:avLst>
          </a:prstGeom>
          <a:solidFill>
            <a:srgbClr val="00B4B4">
              <a:alpha val="10000"/>
            </a:srgbClr>
          </a:solidFill>
          <a:ln w="19050">
            <a:solidFill>
              <a:srgbClr val="00B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96293" y="1447800"/>
            <a:ext cx="6968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519845" y="1962150"/>
            <a:ext cx="23735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per Record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676525"/>
            <a:ext cx="14716125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Machine Learning Repository — 130 US hospitals, 1999–2008. A binary target column 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readmitted_30day 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(Yes / No) was derived from the original 3-class readmission variable. Final clean dataset: </a:t>
            </a:r>
            <a:pPr algn="l" indent="0" marL="0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69,990 records </a:t>
            </a:r>
            <a:pPr algn="l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all KPI computations and dashboard visuals.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4171950"/>
            <a:ext cx="5334000" cy="531495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171950"/>
            <a:ext cx="5334000" cy="38100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4476750"/>
            <a:ext cx="48661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Steps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30630" y="4933950"/>
            <a:ext cx="484955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750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?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values in </a:t>
            </a:r>
            <a:pPr algn="l" indent="0" marL="0">
              <a:lnSpc>
                <a:spcPct val="175000"/>
              </a:lnSpc>
              <a:buNone/>
            </a:pPr>
            <a:r>
              <a:rPr lang="en-US" sz="1800" i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75000"/>
              </a:lnSpc>
              <a:buNone/>
            </a:pPr>
            <a:r>
              <a:rPr lang="en-US" sz="1800" i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medical_specialty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75000"/>
              </a:lnSpc>
              <a:buNone/>
            </a:pPr>
            <a:r>
              <a:rPr lang="en-US" sz="1800" i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nulls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0630" y="5734050"/>
            <a:ext cx="484955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750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</a:t>
            </a:r>
            <a:pPr algn="l" indent="0" marL="0">
              <a:lnSpc>
                <a:spcPct val="175000"/>
              </a:lnSpc>
              <a:buNone/>
            </a:pPr>
            <a:r>
              <a:rPr lang="en-US" sz="1800" i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admission_type_id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categorical string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0630" y="6534150"/>
            <a:ext cx="48495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7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duplicate encounter IDs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0630" y="6934200"/>
            <a:ext cx="48495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750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Derived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readmitted_30day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target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0630" y="7334250"/>
            <a:ext cx="48495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750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dataset: </a:t>
            </a:r>
            <a:pPr algn="l" indent="0" marL="0">
              <a:lnSpc>
                <a:spcPct val="175000"/>
              </a:lnSpc>
              <a:buNone/>
            </a:pPr>
            <a:r>
              <a:rPr lang="en-US" sz="1800" b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69,990 records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77000" y="4171950"/>
            <a:ext cx="5334000" cy="531495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77000" y="4171950"/>
            <a:ext cx="5334000" cy="38100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25" name="Text 23"/>
          <p:cNvSpPr/>
          <p:nvPr/>
        </p:nvSpPr>
        <p:spPr>
          <a:xfrm>
            <a:off x="6781800" y="4476750"/>
            <a:ext cx="48661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Variables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781800" y="4933950"/>
            <a:ext cx="4866132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i="1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readmitted_30day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(target), age, insulin, change, diabetesMed, number_inpatient, num_medications, num_lab_procedures, number_diagnoses, admission_type_id, time_in_hospital, number_emergency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039600" y="4171950"/>
            <a:ext cx="5334000" cy="531495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039600" y="4171950"/>
            <a:ext cx="5334000" cy="38100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29" name="Text 27"/>
          <p:cNvSpPr/>
          <p:nvPr/>
        </p:nvSpPr>
        <p:spPr>
          <a:xfrm>
            <a:off x="12344400" y="4476750"/>
            <a:ext cx="48661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Dictionary Highlights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355830" y="4933950"/>
            <a:ext cx="484955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750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readmitted_30day = Yes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re-admitted within 30 days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55830" y="5734050"/>
            <a:ext cx="484955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750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change = Ch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medication adjusted at discharge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355830" y="6534150"/>
            <a:ext cx="484955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750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number_inpatient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prior inpatient visits in past 12 months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61766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10-KPI MEASUREMENT FRAMEWORK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047750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values computed from 69,990 cleaned encounters · Source: Tableau Dashboard G-15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476375"/>
            <a:ext cx="16459200" cy="581025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7" name="Text 5"/>
          <p:cNvSpPr/>
          <p:nvPr/>
        </p:nvSpPr>
        <p:spPr>
          <a:xfrm>
            <a:off x="1123950" y="1628775"/>
            <a:ext cx="3710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37879" y="1628775"/>
            <a:ext cx="46667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Name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75549" y="1628775"/>
            <a:ext cx="36496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Value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25745" y="1628775"/>
            <a:ext cx="66440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057400"/>
            <a:ext cx="1645920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23950" y="2171700"/>
            <a:ext cx="3710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37879" y="2171700"/>
            <a:ext cx="46667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Readmission Rate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75549" y="2171700"/>
            <a:ext cx="36496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8.98%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25745" y="2171700"/>
            <a:ext cx="66440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discharge protocols meeting CMS standards?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600325"/>
            <a:ext cx="16459200" cy="542925"/>
          </a:xfrm>
          <a:prstGeom prst="rect">
            <a:avLst/>
          </a:prstGeom>
          <a:solidFill>
            <a:srgbClr val="00B4B4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23950" y="2714625"/>
            <a:ext cx="3710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37879" y="2714625"/>
            <a:ext cx="46667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Early Readmissions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75549" y="2714625"/>
            <a:ext cx="36496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6,285 patients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25745" y="2714625"/>
            <a:ext cx="66440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absolute scale of the problem?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3143250"/>
            <a:ext cx="1645920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23950" y="3257550"/>
            <a:ext cx="3710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37879" y="3257550"/>
            <a:ext cx="46667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Prior Inpatient Visits — Readmitted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75549" y="3257550"/>
            <a:ext cx="36496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~0.35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25745" y="3257550"/>
            <a:ext cx="66440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visit history predict early return?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3686175"/>
            <a:ext cx="16459200" cy="857250"/>
          </a:xfrm>
          <a:prstGeom prst="rect">
            <a:avLst/>
          </a:prstGeom>
          <a:solidFill>
            <a:srgbClr val="00B4B4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23950" y="3800475"/>
            <a:ext cx="37102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837879" y="3800475"/>
            <a:ext cx="466670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Prior Inpatient Visits — Not Readmitted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75549" y="3800475"/>
            <a:ext cx="364960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~0.12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25745" y="3800475"/>
            <a:ext cx="66440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baseline for low-risk patients?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" y="4543425"/>
            <a:ext cx="1645920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23950" y="4657725"/>
            <a:ext cx="3710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837879" y="4657725"/>
            <a:ext cx="46667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Medication Unchanged — Readmitted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75549" y="4657725"/>
            <a:ext cx="36496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52.70%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725745" y="4657725"/>
            <a:ext cx="66440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discharge treatment being optimised?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14400" y="5086350"/>
            <a:ext cx="16459200" cy="857250"/>
          </a:xfrm>
          <a:prstGeom prst="rect">
            <a:avLst/>
          </a:prstGeom>
          <a:solidFill>
            <a:srgbClr val="00B4B4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23950" y="5200650"/>
            <a:ext cx="37102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837879" y="5200650"/>
            <a:ext cx="466670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Medication Unchanged — Not Readmitted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75549" y="5200650"/>
            <a:ext cx="364960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55.22%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725745" y="5200650"/>
            <a:ext cx="66440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medication change reduce readmission?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5943600"/>
            <a:ext cx="1645920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1123950" y="6057900"/>
            <a:ext cx="3710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837879" y="6057900"/>
            <a:ext cx="46667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Medications per Encounter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75549" y="6057900"/>
            <a:ext cx="36496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15.67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725745" y="6057900"/>
            <a:ext cx="66440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polypharmacy burden?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14400" y="6486525"/>
            <a:ext cx="16459200" cy="542925"/>
          </a:xfrm>
          <a:prstGeom prst="rect">
            <a:avLst/>
          </a:prstGeom>
          <a:solidFill>
            <a:srgbClr val="00B4B4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123950" y="6600825"/>
            <a:ext cx="3710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837879" y="6600825"/>
            <a:ext cx="46667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Patient Share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775549" y="6600825"/>
            <a:ext cx="36496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2.35%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725745" y="6600825"/>
            <a:ext cx="66440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proportion are clinically high-risk?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14400" y="7029450"/>
            <a:ext cx="1645920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1123950" y="7143750"/>
            <a:ext cx="3710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837879" y="7143750"/>
            <a:ext cx="46667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Risk Score (Population)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775549" y="7143750"/>
            <a:ext cx="36496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2.16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725745" y="7143750"/>
            <a:ext cx="66440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population-wide risk level?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14400" y="7572375"/>
            <a:ext cx="16459200" cy="600075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57" name="Text 55"/>
          <p:cNvSpPr/>
          <p:nvPr/>
        </p:nvSpPr>
        <p:spPr>
          <a:xfrm>
            <a:off x="1123950" y="7686675"/>
            <a:ext cx="3710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1837879" y="7686675"/>
            <a:ext cx="46667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Age Group by Encounters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6775549" y="7686675"/>
            <a:ext cx="36496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[70–80]: 17,751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10725745" y="7686675"/>
            <a:ext cx="664402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patient group needs priority care?</a:t>
            </a:r>
            <a:endParaRPr lang="en-US" sz="2100" dirty="0"/>
          </a:p>
        </p:txBody>
      </p:sp>
      <p:sp>
        <p:nvSpPr>
          <p:cNvPr id="61" name="Shape 59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62" name="Text 60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42669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 FROM EDA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123950"/>
            <a:ext cx="8039100" cy="3738563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23950"/>
            <a:ext cx="57150" cy="3738563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7" name="Shape 5"/>
          <p:cNvSpPr/>
          <p:nvPr/>
        </p:nvSpPr>
        <p:spPr>
          <a:xfrm>
            <a:off x="1276350" y="1390650"/>
            <a:ext cx="457200" cy="457200"/>
          </a:xfrm>
          <a:prstGeom prst="ellipse">
            <a:avLst/>
          </a:prstGeom>
          <a:solidFill>
            <a:srgbClr val="C0504D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13906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85950" y="1409700"/>
            <a:ext cx="130983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17,751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276350" y="1981200"/>
            <a:ext cx="759352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[70–80] age bracket has the highest readmission burden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76350" y="2457450"/>
            <a:ext cx="7593521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 4 age groups (50–90) account for the vast majority of encounters. The dataset average sits near 8K — younger age groups fall well below systemic risk thresholds.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34500" y="1123950"/>
            <a:ext cx="8039100" cy="3738563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34500" y="1123950"/>
            <a:ext cx="57150" cy="3738563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6450" y="1390650"/>
            <a:ext cx="457200" cy="457200"/>
          </a:xfrm>
          <a:prstGeom prst="ellipse">
            <a:avLst/>
          </a:prstGeom>
          <a:solidFill>
            <a:srgbClr val="E67E22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58350" y="13906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306050" y="1409700"/>
            <a:ext cx="17378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67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52.70%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696450" y="1981200"/>
            <a:ext cx="75935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Readmitted patients left with NO medication change at discharge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96450" y="2800350"/>
            <a:ext cx="7593521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Non-readmitted had a similar no-change rate (55.22%) — suggesting timing and follow-up matter as much as the medication adjustment itself.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5243513"/>
            <a:ext cx="8039100" cy="3738563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243513"/>
            <a:ext cx="57150" cy="3738563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276350" y="5510213"/>
            <a:ext cx="457200" cy="457200"/>
          </a:xfrm>
          <a:prstGeom prst="ellipse">
            <a:avLst/>
          </a:prstGeom>
          <a:solidFill>
            <a:srgbClr val="C0504D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38250" y="551021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885950" y="5529263"/>
            <a:ext cx="21484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 Higher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276350" y="6100763"/>
            <a:ext cx="75935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inpatient visit average in readmitted patients (0.35 vs 0.12)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76350" y="6919913"/>
            <a:ext cx="7593521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hospitalisation history is the clearest behavioural signal of readmission risk — visible and quantifiable at the point of admission.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334500" y="5243513"/>
            <a:ext cx="8039100" cy="3738563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34500" y="5243513"/>
            <a:ext cx="57150" cy="3738563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Shape 26"/>
          <p:cNvSpPr/>
          <p:nvPr/>
        </p:nvSpPr>
        <p:spPr>
          <a:xfrm>
            <a:off x="9696450" y="5510213"/>
            <a:ext cx="457200" cy="457200"/>
          </a:xfrm>
          <a:prstGeom prst="ellipse">
            <a:avLst/>
          </a:prstGeom>
          <a:solidFill>
            <a:srgbClr val="E67E22">
              <a:alpha val="12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658350" y="5510213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306050" y="5529263"/>
            <a:ext cx="148411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67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2.35%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9696450" y="6100763"/>
            <a:ext cx="759352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patients — yet drive disproportionate clinical burden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696450" y="6919913"/>
            <a:ext cx="7593521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segmentation shows High-Risk patients (avg score 2.16) are almost entirely absent from the "No Readmission" bar — confirming the 4-variable risk score's discriminating power.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9210675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insights derived from 69,990 cleaned encounters · computed in Python · visualised in Tableau Dashboards 1, 2 &amp; 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73220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SEGMENTATION &amp; RISK PROFILING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562100"/>
            <a:ext cx="7620000" cy="28575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23950"/>
            <a:ext cx="7848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Segments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819275"/>
            <a:ext cx="7620000" cy="2428875"/>
          </a:xfrm>
          <a:prstGeom prst="rect">
            <a:avLst/>
          </a:prstGeom>
          <a:solidFill>
            <a:srgbClr val="C0504D">
              <a:alpha val="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819275"/>
            <a:ext cx="66675" cy="2428875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1209675" y="2009775"/>
            <a:ext cx="7309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</a:t>
            </a:r>
            <a:pPr algn="l"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(2.35% of population · Avg Score &gt;2.5)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09675" y="2381250"/>
            <a:ext cx="730900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60–80 · Prior inpatient visits ≥ 2 · On insulin · No medication change at discharge · Emergency admission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438650"/>
            <a:ext cx="7620000" cy="2428875"/>
          </a:xfrm>
          <a:prstGeom prst="rect">
            <a:avLst/>
          </a:prstGeom>
          <a:solidFill>
            <a:srgbClr val="E67E22">
              <a:alpha val="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438650"/>
            <a:ext cx="66675" cy="2428875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1209675" y="4629150"/>
            <a:ext cx="7309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67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RISK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09675" y="5000625"/>
            <a:ext cx="730900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40–60 · 1 prior inpatient visit · Diabetes medication prescribed but unchanged · Urgent or Emergency admission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7058025"/>
            <a:ext cx="7620000" cy="2428875"/>
          </a:xfrm>
          <a:prstGeom prst="rect">
            <a:avLst/>
          </a:prstGeom>
          <a:solidFill>
            <a:srgbClr val="70AD47">
              <a:alpha val="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7058025"/>
            <a:ext cx="66675" cy="2428875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7" name="Text 15"/>
          <p:cNvSpPr/>
          <p:nvPr/>
        </p:nvSpPr>
        <p:spPr>
          <a:xfrm>
            <a:off x="1209675" y="7248525"/>
            <a:ext cx="7309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3A7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RISK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09675" y="7620000"/>
            <a:ext cx="730900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&lt;40 · Elective admission · No prior inpatient history · Medication adjusted at discharge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91600" y="1562100"/>
            <a:ext cx="8382000" cy="28575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20" name="Text 18"/>
          <p:cNvSpPr/>
          <p:nvPr/>
        </p:nvSpPr>
        <p:spPr>
          <a:xfrm>
            <a:off x="8991600" y="1123950"/>
            <a:ext cx="86334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Intensity Comparison </a:t>
            </a:r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(Dashboard 3)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991600" y="1819275"/>
            <a:ext cx="8382000" cy="8572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22" name="Text 20"/>
          <p:cNvSpPr/>
          <p:nvPr/>
        </p:nvSpPr>
        <p:spPr>
          <a:xfrm>
            <a:off x="9201150" y="1971675"/>
            <a:ext cx="323141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Indicator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707243" y="1971675"/>
            <a:ext cx="190232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Readmitted (Yes)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51671" y="1971675"/>
            <a:ext cx="225157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Readmitted (No)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991600" y="2676525"/>
            <a:ext cx="8382000" cy="10781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201150" y="2790825"/>
            <a:ext cx="3231419" cy="887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num_lab_procedures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707243" y="2790825"/>
            <a:ext cx="1902321" cy="887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↑↑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51671" y="2790825"/>
            <a:ext cx="2251570" cy="887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991600" y="3754636"/>
            <a:ext cx="8382000" cy="1078260"/>
          </a:xfrm>
          <a:prstGeom prst="rect">
            <a:avLst/>
          </a:prstGeom>
          <a:solidFill>
            <a:srgbClr val="00B4B4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201150" y="3868936"/>
            <a:ext cx="3231419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num_medications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707243" y="3868936"/>
            <a:ext cx="1902321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51671" y="3868936"/>
            <a:ext cx="2251570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991600" y="4832896"/>
            <a:ext cx="8382000" cy="10782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201150" y="4947196"/>
            <a:ext cx="3231419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number_inpatient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707243" y="4947196"/>
            <a:ext cx="1902321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~0.35 ↑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951671" y="4947196"/>
            <a:ext cx="2251570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~0.12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991600" y="5911155"/>
            <a:ext cx="8382000" cy="1078260"/>
          </a:xfrm>
          <a:prstGeom prst="rect">
            <a:avLst/>
          </a:prstGeom>
          <a:solidFill>
            <a:srgbClr val="00B4B4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201150" y="6025455"/>
            <a:ext cx="3231419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time_in_hospital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707243" y="6025455"/>
            <a:ext cx="1902321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↑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4951671" y="6025455"/>
            <a:ext cx="2251570" cy="88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991600" y="6989415"/>
            <a:ext cx="8382000" cy="1506885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2" name="Text 40"/>
          <p:cNvSpPr/>
          <p:nvPr/>
        </p:nvSpPr>
        <p:spPr>
          <a:xfrm>
            <a:off x="9201150" y="7103715"/>
            <a:ext cx="3231419" cy="1316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number_emergency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2707243" y="7103715"/>
            <a:ext cx="1902321" cy="1316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↑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14951671" y="7103715"/>
            <a:ext cx="2251570" cy="1316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8991600" y="8801100"/>
            <a:ext cx="86334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clinical intensity metric is higher for readmitted patients — forming a composite risk signature visible at admission.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657396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DASHBOARD WALKTHROUGH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085850"/>
            <a:ext cx="16459200" cy="5133975"/>
          </a:xfrm>
          <a:prstGeom prst="roundRect">
            <a:avLst>
              <a:gd name="adj" fmla="val 2597"/>
            </a:avLst>
          </a:prstGeom>
          <a:solidFill>
            <a:srgbClr val="1A2D5A"/>
          </a:solidFill>
          <a:ln w="19050">
            <a:solidFill>
              <a:srgbClr val="00B4B4">
                <a:alpha val="35000"/>
              </a:srgbClr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949303" y="2852738"/>
            <a:ext cx="10701076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Dashboard — 3 Interactive Views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24895" y="3433763"/>
            <a:ext cx="107513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public.tableau.com/app/profile/shobhit.real/viz/G-15_DiabeticCare_17773552740700/Dashboard1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3725" y="3900488"/>
            <a:ext cx="146387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KPI Cards </a:t>
            </a:r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top-left zone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1795" y="3900488"/>
            <a:ext cx="403099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Interactive Filters </a:t>
            </a:r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· Readmission · Admission Type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866969" y="3900488"/>
            <a:ext cx="26171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 Bar Chart → </a:t>
            </a:r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top-right zone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6410325"/>
            <a:ext cx="538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6410325"/>
            <a:ext cx="5384750" cy="38100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6600825"/>
            <a:ext cx="51538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1 — KPI Cards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04900" y="6934200"/>
            <a:ext cx="515386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8.98% readmission rate · 0.18 avg prior visits · 15.67 avg medications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51550" y="6410325"/>
            <a:ext cx="538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1550" y="6410325"/>
            <a:ext cx="5384750" cy="38100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17" name="Text 15"/>
          <p:cNvSpPr/>
          <p:nvPr/>
        </p:nvSpPr>
        <p:spPr>
          <a:xfrm>
            <a:off x="6642050" y="6600825"/>
            <a:ext cx="51538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1 — Outcome Pie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42050" y="6934200"/>
            <a:ext cx="51538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6,285 </a:t>
            </a:r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readmitted vs </a:t>
            </a:r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63,705 </a:t>
            </a:r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readmitted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988701" y="6410325"/>
            <a:ext cx="5384899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988701" y="6410325"/>
            <a:ext cx="5384899" cy="38100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21" name="Text 19"/>
          <p:cNvSpPr/>
          <p:nvPr/>
        </p:nvSpPr>
        <p:spPr>
          <a:xfrm>
            <a:off x="12179201" y="6600825"/>
            <a:ext cx="51540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1 — Age Group Bar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179201" y="6934200"/>
            <a:ext cx="51540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[70–80] leads at </a:t>
            </a:r>
            <a:pPr algn="l" indent="0" marL="0">
              <a:buNone/>
            </a:pPr>
            <a:r>
              <a:rPr lang="en-US" sz="180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17,751 </a:t>
            </a:r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dataset avg ~8K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7791450"/>
            <a:ext cx="538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7791450"/>
            <a:ext cx="5384750" cy="381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" y="7981950"/>
            <a:ext cx="51538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2 — Clinical Intensity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04900" y="8315325"/>
            <a:ext cx="515386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dots (readmitted) cluster in high lab-procedure / high-medication zone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451550" y="7791450"/>
            <a:ext cx="5384750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51550" y="7791450"/>
            <a:ext cx="5384750" cy="381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29" name="Text 27"/>
          <p:cNvSpPr/>
          <p:nvPr/>
        </p:nvSpPr>
        <p:spPr>
          <a:xfrm>
            <a:off x="6642050" y="7981950"/>
            <a:ext cx="51538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2 — Medication Change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42050" y="8315325"/>
            <a:ext cx="515386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52.70% readmitted unchanged vs 55.22% not-readmitted unchanged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988701" y="7791450"/>
            <a:ext cx="5384899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1A2D5A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1988701" y="7791450"/>
            <a:ext cx="5384899" cy="381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12179201" y="7981950"/>
            <a:ext cx="51540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3 — Risk Segmentation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179201" y="8315325"/>
            <a:ext cx="515401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2.35% · Avg Score 2.16 · Low / Medium / High donut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9210675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charts are filter-responsive. Age Group, Readmission Outcome, and Admission Type filters apply across all views.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35258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047750"/>
            <a:ext cx="16459200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2D5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1100" y="1238250"/>
            <a:ext cx="457200" cy="457200"/>
          </a:xfrm>
          <a:prstGeom prst="ellipse">
            <a:avLst/>
          </a:prstGeom>
          <a:solidFill>
            <a:srgbClr val="1A2D5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2382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219200"/>
            <a:ext cx="88980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a Medication Review Protocol Before Every Diabetic Discharge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828800" y="1581150"/>
            <a:ext cx="88980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 52.70% of 30-day readmits left with no medication change (Dashboard 2)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1895475"/>
            <a:ext cx="88980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Est. ~580 prevented readmissions · $8.3M saved annually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476500"/>
            <a:ext cx="16459200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2D5A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81100" y="2667000"/>
            <a:ext cx="457200" cy="457200"/>
          </a:xfrm>
          <a:prstGeom prst="ellipse">
            <a:avLst/>
          </a:prstGeom>
          <a:solidFill>
            <a:srgbClr val="1A2D5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6670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2647950"/>
            <a:ext cx="96930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 14-Day Post-Discharge Follow-Up Programme for Patients Aged 60+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828800" y="3009900"/>
            <a:ext cx="96930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 [70–80] age group = 17,751 encounters — highest of any bracket (Dashboard 1)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3324225"/>
            <a:ext cx="96930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Est. ~1,194 prevented readmissions · $17.2M saved annually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3905250"/>
            <a:ext cx="16459200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2D5A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81100" y="4095750"/>
            <a:ext cx="457200" cy="457200"/>
          </a:xfrm>
          <a:prstGeom prst="ellipse">
            <a:avLst/>
          </a:prstGeom>
          <a:solidFill>
            <a:srgbClr val="1A2D5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0957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076700"/>
            <a:ext cx="141090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 4-Variable Readmission Risk Score at Admission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828800" y="4438650"/>
            <a:ext cx="141090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 Readmitted patients show 3× higher prior visit avg (0.35 vs 0.12) + higher scores on all 5 clinical indicators (Dashboard 3)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4752975"/>
            <a:ext cx="141090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Est. ~460 prevented readmissions · $6.6M saved annually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5334000"/>
            <a:ext cx="16459200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2D5A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81100" y="5524500"/>
            <a:ext cx="457200" cy="457200"/>
          </a:xfrm>
          <a:prstGeom prst="ellipse">
            <a:avLst/>
          </a:prstGeom>
          <a:solidFill>
            <a:srgbClr val="1A2D5A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52450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5505450"/>
            <a:ext cx="129489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Specialty-Specific Discharge Checklists for Internal Medicine &amp; Emergency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828800" y="5867400"/>
            <a:ext cx="129489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 Emergency admission type is the largest readmission contributor (Dashboard 1 — Admission Type Distribution)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828800" y="6181725"/>
            <a:ext cx="129489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Est. ~270 prevented readmissions · $3.9M saved annually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6762750"/>
            <a:ext cx="16459200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A2D5A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81100" y="6953250"/>
            <a:ext cx="457200" cy="457200"/>
          </a:xfrm>
          <a:prstGeom prst="ellipse">
            <a:avLst/>
          </a:prstGeom>
          <a:solidFill>
            <a:srgbClr val="1A2D5A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69532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828800" y="6934200"/>
            <a:ext cx="1342294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Standardise Insulin Management Per ADA 2024 Guidelines Across All Departments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828800" y="7296150"/>
            <a:ext cx="134229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Data: High-Risk patients cluster in high lab-procedure + high-medication zone on Clinical Intensity scatter (Dashboard 2)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828800" y="7610475"/>
            <a:ext cx="134229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Est. ~390 prevented readmissions · $5.6M saved annually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28426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&amp; VALUE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085850"/>
            <a:ext cx="16459200" cy="581025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6" name="Text 4"/>
          <p:cNvSpPr/>
          <p:nvPr/>
        </p:nvSpPr>
        <p:spPr>
          <a:xfrm>
            <a:off x="1123950" y="1238250"/>
            <a:ext cx="6361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53196" y="1238250"/>
            <a:ext cx="33105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Readmissions Prevented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84061" y="1238250"/>
            <a:ext cx="2632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Saving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41691" y="1238250"/>
            <a:ext cx="29717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666875"/>
            <a:ext cx="1645920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" y="1781175"/>
            <a:ext cx="6361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Medication Review Protocol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53196" y="1781175"/>
            <a:ext cx="33105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~580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84061" y="1781175"/>
            <a:ext cx="2632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$8.3M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241691" y="1781175"/>
            <a:ext cx="29717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60–90 days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209800"/>
            <a:ext cx="16459200" cy="542925"/>
          </a:xfrm>
          <a:prstGeom prst="rect">
            <a:avLst/>
          </a:prstGeom>
          <a:solidFill>
            <a:srgbClr val="00B4B4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23950" y="2324100"/>
            <a:ext cx="6361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Geriatric Follow-Up Programme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53196" y="2324100"/>
            <a:ext cx="33105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~1,194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84061" y="2324100"/>
            <a:ext cx="2632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$17.2M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241691" y="2324100"/>
            <a:ext cx="29717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90–120 days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2752725"/>
            <a:ext cx="1645920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23950" y="2867025"/>
            <a:ext cx="6361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Screening Score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53196" y="2867025"/>
            <a:ext cx="33105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~460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284061" y="2867025"/>
            <a:ext cx="2632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$6.6M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241691" y="2867025"/>
            <a:ext cx="29717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90–180 days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3295650"/>
            <a:ext cx="16459200" cy="542925"/>
          </a:xfrm>
          <a:prstGeom prst="rect">
            <a:avLst/>
          </a:prstGeom>
          <a:solidFill>
            <a:srgbClr val="00B4B4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23950" y="3409950"/>
            <a:ext cx="6361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Specialty Discharge Checklists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53196" y="3409950"/>
            <a:ext cx="33105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~270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84061" y="3409950"/>
            <a:ext cx="2632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$3.9M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241691" y="3409950"/>
            <a:ext cx="29717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30–60 days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4400" y="3838575"/>
            <a:ext cx="16459200" cy="542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23950" y="3952875"/>
            <a:ext cx="63619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Insulin Protocol Standardisation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53196" y="3952875"/>
            <a:ext cx="33105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~390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284061" y="3952875"/>
            <a:ext cx="26323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70AD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$5.6M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241691" y="3952875"/>
            <a:ext cx="29717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60–90 days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14400" y="4381500"/>
            <a:ext cx="16459200" cy="600075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6" name="Text 34"/>
          <p:cNvSpPr/>
          <p:nvPr/>
        </p:nvSpPr>
        <p:spPr>
          <a:xfrm>
            <a:off x="1123950" y="4495800"/>
            <a:ext cx="6361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(conservative)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7653196" y="4495800"/>
            <a:ext cx="33105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~2,894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1284061" y="4495800"/>
            <a:ext cx="26323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$41.6M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4241691" y="4495800"/>
            <a:ext cx="29717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6 months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914400" y="5248275"/>
            <a:ext cx="5334000" cy="1581150"/>
          </a:xfrm>
          <a:prstGeom prst="roundRect">
            <a:avLst>
              <a:gd name="adj" fmla="val 8434"/>
            </a:avLst>
          </a:prstGeom>
          <a:solidFill>
            <a:srgbClr val="C0504D"/>
          </a:solidFill>
          <a:ln/>
        </p:spPr>
      </p:sp>
      <p:sp>
        <p:nvSpPr>
          <p:cNvPr id="41" name="Text 39"/>
          <p:cNvSpPr/>
          <p:nvPr/>
        </p:nvSpPr>
        <p:spPr>
          <a:xfrm>
            <a:off x="2446437" y="5514975"/>
            <a:ext cx="234612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~2,894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1276949" y="6200775"/>
            <a:ext cx="460875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Readmissions Preventable Annually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6477000" y="5248275"/>
            <a:ext cx="5334000" cy="1581150"/>
          </a:xfrm>
          <a:prstGeom prst="roundRect">
            <a:avLst>
              <a:gd name="adj" fmla="val 8434"/>
            </a:avLst>
          </a:prstGeom>
          <a:solidFill>
            <a:srgbClr val="1A2D5A"/>
          </a:solidFill>
          <a:ln w="19050">
            <a:solidFill>
              <a:srgbClr val="00B4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04572" y="5534025"/>
            <a:ext cx="235505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B4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$41.6M</a:t>
            </a:r>
            <a:endParaRPr lang="en-US" sz="4800" dirty="0"/>
          </a:p>
        </p:txBody>
      </p:sp>
      <p:sp>
        <p:nvSpPr>
          <p:cNvPr id="45" name="Text 43"/>
          <p:cNvSpPr/>
          <p:nvPr/>
        </p:nvSpPr>
        <p:spPr>
          <a:xfrm>
            <a:off x="6983489" y="6219825"/>
            <a:ext cx="432102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Conservative Annual Cost Saving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12039600" y="5248275"/>
            <a:ext cx="5334000" cy="1581150"/>
          </a:xfrm>
          <a:prstGeom prst="roundRect">
            <a:avLst>
              <a:gd name="adj" fmla="val 8434"/>
            </a:avLst>
          </a:prstGeom>
          <a:solidFill>
            <a:srgbClr val="70AD47"/>
          </a:solidFill>
          <a:ln/>
        </p:spPr>
      </p:sp>
      <p:sp>
        <p:nvSpPr>
          <p:cNvPr id="47" name="Text 45"/>
          <p:cNvSpPr/>
          <p:nvPr/>
        </p:nvSpPr>
        <p:spPr>
          <a:xfrm>
            <a:off x="13958292" y="5514975"/>
            <a:ext cx="157281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Mo</a:t>
            </a:r>
            <a:endParaRPr lang="en-US" sz="4800" dirty="0"/>
          </a:p>
        </p:txBody>
      </p:sp>
      <p:sp>
        <p:nvSpPr>
          <p:cNvPr id="48" name="Text 46"/>
          <p:cNvSpPr/>
          <p:nvPr/>
        </p:nvSpPr>
        <p:spPr>
          <a:xfrm>
            <a:off x="13423106" y="6200775"/>
            <a:ext cx="256683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>
                    <a:alpha val="8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Rollout Feasible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914400" y="7096125"/>
            <a:ext cx="169529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$14,400 avg readmission cost (AHRQ, 2023). Impact % derived from peer-reviewed healthcare literature.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8105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352425"/>
            <a:ext cx="76200" cy="76200"/>
          </a:xfrm>
          <a:prstGeom prst="ellipse">
            <a:avLst/>
          </a:prstGeom>
          <a:solidFill>
            <a:srgbClr val="00B4B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04788"/>
            <a:ext cx="470118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&amp; 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562100"/>
            <a:ext cx="7962900" cy="28575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23950"/>
            <a:ext cx="82017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Limitations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1781175"/>
            <a:ext cx="7962900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" dir="5400000">
              <a:srgbClr val="1A2D5A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23950" y="1933575"/>
            <a:ext cx="1855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85739" y="1933575"/>
            <a:ext cx="750047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Gap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Dataset covers 1999–2008. Clinical protocols have changed significantly.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924175"/>
            <a:ext cx="79629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" dir="5400000">
              <a:srgbClr val="1A2D5A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23950" y="3076575"/>
            <a:ext cx="2342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34405" y="3076575"/>
            <a:ext cx="745034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Specialty Data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51% of encounters have no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medical_specialty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076700"/>
            <a:ext cx="79629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" dir="5400000">
              <a:srgbClr val="1A2D5A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23950" y="4229100"/>
            <a:ext cx="2388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39019" y="4229100"/>
            <a:ext cx="744559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Weight / BMI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weight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 largely blank; BMI-based risk analysis not possible.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5229225"/>
            <a:ext cx="7962900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" dir="5400000">
              <a:srgbClr val="1A2D5A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23950" y="5381625"/>
            <a:ext cx="24675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46907" y="5381625"/>
            <a:ext cx="74374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Post-Discharge Outcomes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Dataset captures whether re-admitted, not why or what happened after.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6372225"/>
            <a:ext cx="7962900" cy="100965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" dir="5400000">
              <a:srgbClr val="1A2D5A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23950" y="6524625"/>
            <a:ext cx="23321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C05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433364" y="6524625"/>
            <a:ext cx="745141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US-Only Scope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130 US hospitals; findings may not transfer to other healthcare systems.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10700" y="1562100"/>
            <a:ext cx="7962900" cy="28575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23" name="Text 21"/>
          <p:cNvSpPr/>
          <p:nvPr/>
        </p:nvSpPr>
        <p:spPr>
          <a:xfrm>
            <a:off x="9410700" y="1123950"/>
            <a:ext cx="82017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410700" y="1781175"/>
            <a:ext cx="7962900" cy="1704975"/>
          </a:xfrm>
          <a:prstGeom prst="rect">
            <a:avLst/>
          </a:prstGeom>
          <a:solidFill>
            <a:srgbClr val="00B4B4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410700" y="1781175"/>
            <a:ext cx="57150" cy="1704975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26" name="Text 24"/>
          <p:cNvSpPr/>
          <p:nvPr/>
        </p:nvSpPr>
        <p:spPr>
          <a:xfrm>
            <a:off x="9696450" y="1952625"/>
            <a:ext cx="7672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ML Risk Classifier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96450" y="2286000"/>
            <a:ext cx="767200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logistic regression / random forest model using the 4-variable risk profile (prior visits, diagnoses, medications, lab procedures) to flag high-risk patients at admission.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10700" y="3619500"/>
            <a:ext cx="7962900" cy="1362075"/>
          </a:xfrm>
          <a:prstGeom prst="rect">
            <a:avLst/>
          </a:prstGeom>
          <a:solidFill>
            <a:srgbClr val="00B4B4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410700" y="3619500"/>
            <a:ext cx="57150" cy="1362075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30" name="Text 28"/>
          <p:cNvSpPr/>
          <p:nvPr/>
        </p:nvSpPr>
        <p:spPr>
          <a:xfrm>
            <a:off x="9696450" y="3790950"/>
            <a:ext cx="7672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Live EHR Integration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96450" y="4124325"/>
            <a:ext cx="76720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dashboard to hospital EHR for real-time readmission monitoring and automated nursing alerts.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0700" y="5114925"/>
            <a:ext cx="7962900" cy="1704975"/>
          </a:xfrm>
          <a:prstGeom prst="rect">
            <a:avLst/>
          </a:prstGeom>
          <a:solidFill>
            <a:srgbClr val="00B4B4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410700" y="5114925"/>
            <a:ext cx="57150" cy="1704975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34" name="Text 32"/>
          <p:cNvSpPr/>
          <p:nvPr/>
        </p:nvSpPr>
        <p:spPr>
          <a:xfrm>
            <a:off x="9696450" y="5286375"/>
            <a:ext cx="7672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3-Year ROI Model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96450" y="5619750"/>
            <a:ext cx="767200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cost-benefit analysis per recommendation factoring implementation cost, staff training, and phased readmission reduction.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410700" y="6953250"/>
            <a:ext cx="7962900" cy="1362075"/>
          </a:xfrm>
          <a:prstGeom prst="rect">
            <a:avLst/>
          </a:prstGeom>
          <a:solidFill>
            <a:srgbClr val="00B4B4">
              <a:alpha val="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410700" y="6953250"/>
            <a:ext cx="57150" cy="1362075"/>
          </a:xfrm>
          <a:prstGeom prst="rect">
            <a:avLst/>
          </a:prstGeom>
          <a:solidFill>
            <a:srgbClr val="00B4B4"/>
          </a:solidFill>
          <a:ln/>
        </p:spPr>
      </p:sp>
      <p:sp>
        <p:nvSpPr>
          <p:cNvPr id="38" name="Text 36"/>
          <p:cNvSpPr/>
          <p:nvPr/>
        </p:nvSpPr>
        <p:spPr>
          <a:xfrm>
            <a:off x="9696450" y="7124700"/>
            <a:ext cx="76720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D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Patient Satisfaction Linkage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696450" y="7458075"/>
            <a:ext cx="76720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with HCAHPS scores to explore the readmission–patient experience correlation.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8839200"/>
            <a:ext cx="18288000" cy="9906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9010650"/>
            <a:ext cx="170078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"Data reveals the problem. Decisions fix it." · G-15 | DVA Capstone 2 | Newton School of Technology · Dashboard: public.tableau.com/app/profile/shobhit.real/viz/G-15_DiabeticCare_17773552740700/Dashboard1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0" y="9829800"/>
            <a:ext cx="18288000" cy="4572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9920288"/>
            <a:ext cx="580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G-15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514029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85330" y="9920288"/>
            <a:ext cx="3475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Diabetic Readmission Analytics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1548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326112" y="9920288"/>
            <a:ext cx="18353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DVA Capstone 2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180511" y="9920288"/>
            <a:ext cx="1522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51812" y="9920288"/>
            <a:ext cx="33492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School of Technology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2026-04-29T05:09:33Z</dcterms:created>
  <dcterms:modified xsi:type="dcterms:W3CDTF">2026-04-29T05:09:33Z</dcterms:modified>
</cp:coreProperties>
</file>